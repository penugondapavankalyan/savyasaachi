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01-45BC-A92F-2559ACE4EF56}"/>
              </c:ext>
            </c:extLst>
          </c:dPt>
          <c:dPt>
            <c:idx val="1"/>
            <c:bubble3D val="0"/>
            <c:spPr>
              <a:solidFill>
                <a:srgbClr val="F4A7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01-45BC-A92F-2559ACE4EF56}"/>
              </c:ext>
            </c:extLst>
          </c:dPt>
          <c:dPt>
            <c:idx val="2"/>
            <c:bubble3D val="0"/>
            <c:spPr>
              <a:solidFill>
                <a:srgbClr val="1F11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01-45BC-A92F-2559ACE4EF56}"/>
              </c:ext>
            </c:extLst>
          </c:dPt>
          <c:dPt>
            <c:idx val="3"/>
            <c:bubble3D val="0"/>
            <c:spPr>
              <a:solidFill>
                <a:srgbClr val="9B8F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01-45BC-A92F-2559ACE4EF56}"/>
              </c:ext>
            </c:extLst>
          </c:dPt>
          <c:cat>
            <c:strRef>
              <c:f>Sheet1!$A$2:$A$5</c:f>
              <c:strCache>
                <c:ptCount val="4"/>
                <c:pt idx="0">
                  <c:v>Cash</c:v>
                </c:pt>
                <c:pt idx="1">
                  <c:v>UPI</c:v>
                </c:pt>
                <c:pt idx="2">
                  <c:v>Card</c:v>
                </c:pt>
                <c:pt idx="3">
                  <c:v>Credit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17102.34</c:v>
                </c:pt>
                <c:pt idx="1">
                  <c:v>554.79999999999995</c:v>
                </c:pt>
                <c:pt idx="2">
                  <c:v>0</c:v>
                </c:pt>
                <c:pt idx="3">
                  <c:v>283.5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01-45BC-A92F-2559ACE4E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194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 Aug</c:v>
                </c:pt>
                <c:pt idx="1">
                  <c:v>11 Aug</c:v>
                </c:pt>
                <c:pt idx="2">
                  <c:v>12 Aug</c:v>
                </c:pt>
                <c:pt idx="3">
                  <c:v>13 Aug</c:v>
                </c:pt>
                <c:pt idx="4">
                  <c:v>14 Aug</c:v>
                </c:pt>
                <c:pt idx="5">
                  <c:v>15 Aug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1489.72</c:v>
                </c:pt>
                <c:pt idx="1">
                  <c:v>2206.7199999999998</c:v>
                </c:pt>
                <c:pt idx="2">
                  <c:v>0</c:v>
                </c:pt>
                <c:pt idx="3">
                  <c:v>179.5</c:v>
                </c:pt>
                <c:pt idx="4">
                  <c:v>0</c:v>
                </c:pt>
                <c:pt idx="5">
                  <c:v>17102.34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D-47AF-B972-CC8077DD0A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UPI</c:v>
                </c:pt>
              </c:strCache>
            </c:strRef>
          </c:tx>
          <c:spPr>
            <a:solidFill>
              <a:srgbClr val="F4A73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 Aug</c:v>
                </c:pt>
                <c:pt idx="1">
                  <c:v>11 Aug</c:v>
                </c:pt>
                <c:pt idx="2">
                  <c:v>12 Aug</c:v>
                </c:pt>
                <c:pt idx="3">
                  <c:v>13 Aug</c:v>
                </c:pt>
                <c:pt idx="4">
                  <c:v>14 Aug</c:v>
                </c:pt>
                <c:pt idx="5">
                  <c:v>15 Aug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984</c:v>
                </c:pt>
                <c:pt idx="1">
                  <c:v>6527.8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554.79999999999995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7D-47AF-B972-CC8077DD0A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Credit</c:v>
                </c:pt>
              </c:strCache>
            </c:strRef>
          </c:tx>
          <c:spPr>
            <a:solidFill>
              <a:srgbClr val="9B8FC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 Aug</c:v>
                </c:pt>
                <c:pt idx="1">
                  <c:v>11 Aug</c:v>
                </c:pt>
                <c:pt idx="2">
                  <c:v>12 Aug</c:v>
                </c:pt>
                <c:pt idx="3">
                  <c:v>13 Aug</c:v>
                </c:pt>
                <c:pt idx="4">
                  <c:v>14 Aug</c:v>
                </c:pt>
                <c:pt idx="5">
                  <c:v>15 Aug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582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283.5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7D-47AF-B972-CC8077DD0A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319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1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46C94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746C94"/>
                    </a:solidFill>
                    <a:latin typeface="Arial"/>
                  </a:rPr>
                  <a:t>Revenue (Rs.)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46C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50">
              <a:solidFill>
                <a:srgbClr val="23194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(Rs.)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31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pencil (3pc)</c:v>
                </c:pt>
                <c:pt idx="1">
                  <c:v>pencil (27pc)</c:v>
                </c:pt>
                <c:pt idx="2">
                  <c:v>wheat aata (7kg)</c:v>
                </c:pt>
                <c:pt idx="3">
                  <c:v>Apsara Pencil</c:v>
                </c:pt>
                <c:pt idx="4">
                  <c:v>Parry's Sugar</c:v>
                </c:pt>
                <c:pt idx="5">
                  <c:v>shaving cream</c:v>
                </c:pt>
                <c:pt idx="6">
                  <c:v>wheat aata (22kg)</c:v>
                </c:pt>
                <c:pt idx="7">
                  <c:v>dhaal</c:v>
                </c:pt>
                <c:pt idx="8">
                  <c:v>Rice</c:v>
                </c:pt>
                <c:pt idx="9">
                  <c:v>Bat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31.5</c:v>
                </c:pt>
                <c:pt idx="1">
                  <c:v>302.39999999999998</c:v>
                </c:pt>
                <c:pt idx="2">
                  <c:v>382.2</c:v>
                </c:pt>
                <c:pt idx="3">
                  <c:v>525</c:v>
                </c:pt>
                <c:pt idx="4">
                  <c:v>742.56</c:v>
                </c:pt>
                <c:pt idx="5">
                  <c:v>1169.28</c:v>
                </c:pt>
                <c:pt idx="6">
                  <c:v>1247.4000000000001</c:v>
                </c:pt>
                <c:pt idx="7">
                  <c:v>4914</c:v>
                </c:pt>
                <c:pt idx="8">
                  <c:v>9176</c:v>
                </c:pt>
                <c:pt idx="9">
                  <c:v>11328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5F-46D4-997F-B5724DB23D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319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46C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34-4596-B9FF-C2C045902FA1}"/>
              </c:ext>
            </c:extLst>
          </c:dPt>
          <c:dPt>
            <c:idx val="1"/>
            <c:bubble3D val="0"/>
            <c:spPr>
              <a:solidFill>
                <a:srgbClr val="F4A7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34-4596-B9FF-C2C045902FA1}"/>
              </c:ext>
            </c:extLst>
          </c:dPt>
          <c:dPt>
            <c:idx val="2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34-4596-B9FF-C2C045902FA1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34-4596-B9FF-C2C045902FA1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34-4596-B9FF-C2C045902FA1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34-4596-B9FF-C2C045902FA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 Stock</c:v>
                </c:pt>
                <c:pt idx="1">
                  <c:v>Low</c:v>
                </c:pt>
                <c:pt idx="2">
                  <c:v>Out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A34-4596-B9FF-C2C045902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194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GST (Rs.)</c:v>
                </c:pt>
              </c:strCache>
            </c:strRef>
          </c:tx>
          <c:spPr>
            <a:solidFill>
              <a:srgbClr val="F4A7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31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5%</c:v>
                </c:pt>
                <c:pt idx="2">
                  <c:v>12%</c:v>
                </c:pt>
                <c:pt idx="3">
                  <c:v>18%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338.1</c:v>
                </c:pt>
                <c:pt idx="2">
                  <c:v>237.24</c:v>
                </c:pt>
                <c:pt idx="3">
                  <c:v>1742.04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F4-4DDB-BB56-E3AD835C9E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19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46C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427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F4A73D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515600" y="5029200"/>
            <a:ext cx="2194560" cy="219456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kern="0" spc="1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Agent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Mahesh Groceries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4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Business Report</a:t>
            </a:r>
            <a:endParaRPr lang="en-US" sz="2200" dirty="0"/>
          </a:p>
        </p:txBody>
      </p:sp>
      <p:pic>
        <p:nvPicPr>
          <p:cNvPr id="9" name="Image 0" descr="/home/claude/savyasaachi_pptx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114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10 – 15 August 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Savyasaachi — your always-on billing &amp; insights agent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Groceries · 10–15 August 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714232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14039" cy="1508760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/>
          <a:effectLst>
            <a:outerShdw blurRad="101600" dist="38100" dir="5400000" algn="bl" rotWithShape="0">
              <a:srgbClr val="3A2E6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savyasaachi_pptx/icons/rup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7510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176272"/>
            <a:ext cx="31117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17,940.64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266090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6999" y="1463040"/>
            <a:ext cx="3514039" cy="1508760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/>
          <a:effectLst>
            <a:outerShdw blurRad="101600" dist="38100" dir="5400000" algn="bl" rotWithShape="0">
              <a:srgbClr val="3A2E6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38167" y="1645920"/>
            <a:ext cx="457200" cy="457200"/>
          </a:xfrm>
          <a:prstGeom prst="ellipse">
            <a:avLst/>
          </a:prstGeom>
          <a:solidFill>
            <a:srgbClr val="F4A7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savyasaachi_pptx/icons/bi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323" y="17510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8167" y="2176272"/>
            <a:ext cx="31117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38167" y="266090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No. of Bills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5358" y="1463040"/>
            <a:ext cx="3514039" cy="1508760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/>
          <a:effectLst>
            <a:outerShdw blurRad="101600" dist="38100" dir="5400000" algn="bl" rotWithShape="0">
              <a:srgbClr val="3A2E6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326526" y="1645920"/>
            <a:ext cx="457200" cy="457200"/>
          </a:xfrm>
          <a:prstGeom prst="ellipse">
            <a:avLst/>
          </a:prstGeom>
          <a:solidFill>
            <a:srgbClr val="1F11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8326526" y="2176272"/>
            <a:ext cx="31117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1,002.64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326526" y="266090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Collected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Mode Split</a:t>
            </a:r>
            <a:endParaRPr lang="en-US" sz="17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361188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Shape 16"/>
          <p:cNvSpPr/>
          <p:nvPr/>
        </p:nvSpPr>
        <p:spPr>
          <a:xfrm>
            <a:off x="6309360" y="3593592"/>
            <a:ext cx="5330952" cy="2724912"/>
          </a:xfrm>
          <a:prstGeom prst="roundRect">
            <a:avLst>
              <a:gd name="adj" fmla="val 4027"/>
            </a:avLst>
          </a:prstGeom>
          <a:solidFill>
            <a:srgbClr val="F5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583680" y="3858768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6858000" y="3730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71432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17,102.34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583680" y="4297680"/>
            <a:ext cx="4782312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583680" y="4517136"/>
            <a:ext cx="146304" cy="146304"/>
          </a:xfrm>
          <a:prstGeom prst="ellipse">
            <a:avLst/>
          </a:prstGeom>
          <a:solidFill>
            <a:srgbClr val="F4A7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685800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171432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554.80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6583680" y="4956048"/>
            <a:ext cx="4782312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6858000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6583680" y="5614416"/>
            <a:ext cx="4782312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6583680" y="5833872"/>
            <a:ext cx="146304" cy="146304"/>
          </a:xfrm>
          <a:prstGeom prst="ellipse">
            <a:avLst/>
          </a:prstGeom>
          <a:solidFill>
            <a:srgbClr val="9B8F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6858000" y="5705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9171432" y="57058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283.50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 · Business Agent</a:t>
            </a:r>
            <a:endParaRPr lang="en-US" sz="850" dirty="0"/>
          </a:p>
        </p:txBody>
      </p:sp>
      <p:pic>
        <p:nvPicPr>
          <p:cNvPr id="40" name="Graphic 39" descr="Tax outline">
            <a:extLst>
              <a:ext uri="{FF2B5EF4-FFF2-40B4-BE49-F238E27FC236}">
                <a16:creationId xmlns:a16="http://schemas.microsoft.com/office/drawing/2014/main" id="{F09EE20B-76DA-3F8E-3B73-1861D9E95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126" y="1694844"/>
            <a:ext cx="324000" cy="3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Sales Trend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composition by day · 10–15 August 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714232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0876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50876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5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458200" y="173736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savyasaachi_pptx/icons/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644" y="18608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58200" y="25877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August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458200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17,940.64 · 13 bills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 · Business Agent</a:t>
            </a:r>
            <a:endParaRPr lang="en-US" sz="85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F73D39C3-DB17-BE97-8E3F-2FC0902DFC44}"/>
              </a:ext>
            </a:extLst>
          </p:cNvPr>
          <p:cNvSpPr/>
          <p:nvPr/>
        </p:nvSpPr>
        <p:spPr>
          <a:xfrm>
            <a:off x="8229600" y="397764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5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D222D131-A2EA-68F6-9103-0B2C3C043E7E}"/>
              </a:ext>
            </a:extLst>
          </p:cNvPr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0" descr="/home/claude/savyasaachi_pptx/icons/trending.png">
            <a:extLst>
              <a:ext uri="{FF2B5EF4-FFF2-40B4-BE49-F238E27FC236}">
                <a16:creationId xmlns:a16="http://schemas.microsoft.com/office/drawing/2014/main" id="{00D908FA-1FC9-0E87-17EF-F48B2DC17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9164" y="3584448"/>
            <a:ext cx="256032" cy="256032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59C086F5-5CD6-0F2A-237B-FDF279D1BD97}"/>
              </a:ext>
            </a:extLst>
          </p:cNvPr>
          <p:cNvSpPr/>
          <p:nvPr/>
        </p:nvSpPr>
        <p:spPr>
          <a:xfrm>
            <a:off x="8458200" y="4800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</a:t>
            </a:r>
            <a:endParaRPr lang="en-US" sz="1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54D39AD-E370-A35C-6E6D-DE11ED5FADBB}"/>
              </a:ext>
            </a:extLst>
          </p:cNvPr>
          <p:cNvSpPr/>
          <p:nvPr/>
        </p:nvSpPr>
        <p:spPr>
          <a:xfrm>
            <a:off x="8458200" y="50566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August</a:t>
            </a:r>
            <a:endParaRPr lang="en-US" sz="20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5EA6778E-547F-1DF0-661F-0D207F73F9EE}"/>
              </a:ext>
            </a:extLst>
          </p:cNvPr>
          <p:cNvSpPr/>
          <p:nvPr/>
        </p:nvSpPr>
        <p:spPr>
          <a:xfrm>
            <a:off x="8458200" y="5468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179.5 · 1 bills</a:t>
            </a:r>
            <a:endParaRPr lang="en-US" sz="1200" dirty="0"/>
          </a:p>
        </p:txBody>
      </p:sp>
      <p:pic>
        <p:nvPicPr>
          <p:cNvPr id="30" name="Graphic 29" descr="Bar graph with downward trend with solid fill">
            <a:extLst>
              <a:ext uri="{FF2B5EF4-FFF2-40B4-BE49-F238E27FC236}">
                <a16:creationId xmlns:a16="http://schemas.microsoft.com/office/drawing/2014/main" id="{8E9AC31D-8605-E3D8-BF7A-55ADE2603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3643" y="4295394"/>
            <a:ext cx="281178" cy="2811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Selling Items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revenue · this week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714232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6304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463040"/>
            <a:ext cx="3410712" cy="1600200"/>
          </a:xfrm>
          <a:prstGeom prst="roundRect">
            <a:avLst>
              <a:gd name="adj" fmla="val 6857"/>
            </a:avLst>
          </a:prstGeom>
          <a:solidFill>
            <a:srgbClr val="F5F3FB"/>
          </a:solidFill>
          <a:ln/>
          <a:effectLst>
            <a:outerShdw blurRad="101600" dist="38100" dir="5400000" algn="bl" rotWithShape="0">
              <a:srgbClr val="3A2E6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430768" y="1645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savyasaachi_pptx/icons/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924" y="1751076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30768" y="21762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— Rs. 11,328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30768" y="27523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 by revenue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3246120"/>
            <a:ext cx="3410712" cy="1600200"/>
          </a:xfrm>
          <a:prstGeom prst="roundRect">
            <a:avLst>
              <a:gd name="adj" fmla="val 6857"/>
            </a:avLst>
          </a:prstGeom>
          <a:solidFill>
            <a:srgbClr val="F5F3FB"/>
          </a:solidFill>
          <a:ln/>
          <a:effectLst>
            <a:outerShdw blurRad="101600" dist="38100" dir="5400000" algn="bl" rotWithShape="0">
              <a:srgbClr val="3A2E6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8430768" y="3429000"/>
            <a:ext cx="457200" cy="457200"/>
          </a:xfrm>
          <a:prstGeom prst="ellipse">
            <a:avLst/>
          </a:prstGeom>
          <a:solidFill>
            <a:srgbClr val="F4A7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savyasaachi_pptx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24" y="353415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30768" y="395935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124 units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30768" y="45354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 by volume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0" y="5029200"/>
            <a:ext cx="3410712" cy="1325880"/>
          </a:xfrm>
          <a:prstGeom prst="roundRect">
            <a:avLst>
              <a:gd name="adj" fmla="val 8276"/>
            </a:avLst>
          </a:prstGeom>
          <a:solidFill>
            <a:srgbClr val="F5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8430768" y="5138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430768" y="54132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“pencil” and “wheat aata” appear twice in the source data as separate batches.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 · Business Agent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Health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Products: 12 · In Stock: 11 · Low: 0 · Out: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714232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1732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savyasaachi_pptx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6954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46304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Apsara Pencil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463040" y="5148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0.0 PIECE · Reorder level: 10.0 PIECE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77840" y="1527048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797296" y="13898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797296" y="165506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12.0 PIECE · Reorder 5.0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577840" y="2020824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577840" y="2221992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797296" y="20848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797296" y="235000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18.0 PIECE · Reorder 7.0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577840" y="2715768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577840" y="291693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5797296" y="277977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shaving cream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797296" y="304495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23.0 PIECE · Reorder 5.0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577840" y="3410712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5577840" y="361188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797296" y="347472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dhaal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797296" y="373989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24.0 KG · Reorder 18.0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577840" y="4105656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5577840" y="430682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5797296" y="416966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aata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797296" y="44348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31.0 KG · Reorder 15.0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577840" y="4800600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5577840" y="5001768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5797296" y="486460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Parry's Sugar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5797296" y="51297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31.5 KG · Reorder 12.0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366760" y="1527048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8586216" y="13898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aata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8586216" y="165506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40.0 KG · Reorder 13.0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366760" y="2020824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8366760" y="2221992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8586216" y="20848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Colgate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8586216" y="235000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46.0 PIECE · Reorder 12.0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366760" y="2715768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>
            <a:off x="8366760" y="291693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8586216" y="277977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8586216" y="304495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47.0 PIECE · Reorder 10.0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8366760" y="3410712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/>
          <p:cNvSpPr/>
          <p:nvPr/>
        </p:nvSpPr>
        <p:spPr>
          <a:xfrm>
            <a:off x="8366760" y="361188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8586216" y="347472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Agarbatti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8586216" y="373989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49.0 PACKET · Reorder 12.0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8366760" y="4105656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8366760" y="430682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8"/>
          <p:cNvSpPr/>
          <p:nvPr/>
        </p:nvSpPr>
        <p:spPr>
          <a:xfrm>
            <a:off x="8586216" y="416966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150" dirty="0"/>
          </a:p>
        </p:txBody>
      </p:sp>
      <p:sp>
        <p:nvSpPr>
          <p:cNvPr id="53" name="Text 49"/>
          <p:cNvSpPr/>
          <p:nvPr/>
        </p:nvSpPr>
        <p:spPr>
          <a:xfrm>
            <a:off x="8586216" y="44348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139.0 KG · Reorder 20.0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8366760" y="4800600"/>
            <a:ext cx="2624328" cy="0"/>
          </a:xfrm>
          <a:prstGeom prst="line">
            <a:avLst/>
          </a:prstGeom>
          <a:noFill/>
          <a:ln w="9525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8714232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4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 · Business Agent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10–15 August 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714232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SAVYASAACHI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1468" cy="1463040"/>
          </a:xfrm>
          <a:prstGeom prst="roundRect">
            <a:avLst>
              <a:gd name="adj" fmla="val 7500"/>
            </a:avLst>
          </a:prstGeom>
          <a:solidFill>
            <a:srgbClr val="2E1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savyasaachi_pptx/icons/rup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7510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176272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27,593.00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2615184"/>
            <a:ext cx="2199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8708" y="1463040"/>
            <a:ext cx="2601468" cy="1463040"/>
          </a:xfrm>
          <a:prstGeom prst="roundRect">
            <a:avLst>
              <a:gd name="adj" fmla="val 7500"/>
            </a:avLst>
          </a:prstGeom>
          <a:solidFill>
            <a:srgbClr val="2E1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79876" y="1645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savyasaachi_pptx/icons/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7510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9876" y="2176272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1,158.69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79876" y="2615184"/>
            <a:ext cx="2199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CGST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08776" y="1463040"/>
            <a:ext cx="2601468" cy="1463040"/>
          </a:xfrm>
          <a:prstGeom prst="roundRect">
            <a:avLst>
              <a:gd name="adj" fmla="val 7500"/>
            </a:avLst>
          </a:prstGeom>
          <a:solidFill>
            <a:srgbClr val="2E1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09944" y="1645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savyasaachi_pptx/icons/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75107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2176272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1,158.69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09944" y="2615184"/>
            <a:ext cx="2199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SGST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38844" y="1463040"/>
            <a:ext cx="2601468" cy="1463040"/>
          </a:xfrm>
          <a:prstGeom prst="roundRect">
            <a:avLst>
              <a:gd name="adj" fmla="val 7500"/>
            </a:avLst>
          </a:prstGeom>
          <a:solidFill>
            <a:srgbClr val="2E1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240012" y="1645920"/>
            <a:ext cx="457200" cy="457200"/>
          </a:xfrm>
          <a:prstGeom prst="ellipse">
            <a:avLst/>
          </a:prstGeom>
          <a:solidFill>
            <a:srgbClr val="F4A7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savyasaachi_pptx/icons/bi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175107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0012" y="2176272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2,317.38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240012" y="2615184"/>
            <a:ext cx="2199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GST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3154680"/>
            <a:ext cx="6492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82296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Collected by Slab</a:t>
            </a:r>
            <a:endParaRPr lang="en-US" sz="15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777240" y="3703320"/>
          <a:ext cx="60350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Shape 21"/>
          <p:cNvSpPr/>
          <p:nvPr/>
        </p:nvSpPr>
        <p:spPr>
          <a:xfrm>
            <a:off x="7269480" y="3154680"/>
            <a:ext cx="4370832" cy="3246120"/>
          </a:xfrm>
          <a:prstGeom prst="roundRect">
            <a:avLst>
              <a:gd name="adj" fmla="val 3380"/>
            </a:avLst>
          </a:prstGeom>
          <a:solidFill>
            <a:srgbClr val="2E1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75438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Slab Breakdown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543800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Slab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54380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Rs. 9,176.00  ·  GST Rs. 0.00  ·  19 items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543800" y="4379976"/>
            <a:ext cx="3840480" cy="0"/>
          </a:xfrm>
          <a:prstGeom prst="line">
            <a:avLst/>
          </a:prstGeom>
          <a:noFill/>
          <a:ln w="9525">
            <a:solidFill>
              <a:srgbClr val="3D2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/>
          <p:nvPr/>
        </p:nvSpPr>
        <p:spPr>
          <a:xfrm>
            <a:off x="7543800" y="4507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Slab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543800" y="4764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Rs. 6,762.00  ·  GST Rs. 338.10  ·  21 items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543800" y="5093208"/>
            <a:ext cx="3840480" cy="0"/>
          </a:xfrm>
          <a:prstGeom prst="line">
            <a:avLst/>
          </a:prstGeom>
          <a:noFill/>
          <a:ln w="9525">
            <a:solidFill>
              <a:srgbClr val="3D2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7543800" y="5221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Slab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543800" y="5477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Rs. 1,977.00  ·  GST Rs. 237.24  ·  27 items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7543800" y="5806440"/>
            <a:ext cx="3840480" cy="0"/>
          </a:xfrm>
          <a:prstGeom prst="line">
            <a:avLst/>
          </a:prstGeom>
          <a:noFill/>
          <a:ln w="9525">
            <a:solidFill>
              <a:srgbClr val="3D2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/>
          <p:nvPr/>
        </p:nvSpPr>
        <p:spPr>
          <a:xfrm>
            <a:off x="7543800" y="5934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Slab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7543800" y="6190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Rs. 9,678.00  ·  GST Rs. 1,742.04  ·  7 items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548640" y="6446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Powered by Savyasaachi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389</Words>
  <Application>Microsoft Office PowerPoint</Application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Penugonda Pavan Kalyan</cp:lastModifiedBy>
  <cp:revision>5</cp:revision>
  <dcterms:created xsi:type="dcterms:W3CDTF">2026-08-15T18:12:14Z</dcterms:created>
  <dcterms:modified xsi:type="dcterms:W3CDTF">2026-08-15T18:36:55Z</dcterms:modified>
</cp:coreProperties>
</file>